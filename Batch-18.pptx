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72" r:id="rId9"/>
    <p:sldId id="262" r:id="rId10"/>
    <p:sldId id="276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1" r:id="rId19"/>
    <p:sldId id="277" r:id="rId20"/>
  </p:sldIdLst>
  <p:sldSz cx="12192000" cy="6858000"/>
  <p:notesSz cx="10017125" cy="6886575"/>
  <p:embeddedFontLst>
    <p:embeddedFont>
      <p:font typeface="Arial Narrow" panose="020B060602020203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hFDyGgmbSXtHPxQabsInOr5S9Y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282954-5174-4F31-A0F9-3197DDE5C557}">
  <a:tblStyle styleId="{0A282954-5174-4F31-A0F9-3197DDE5C55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 b="off" i="off"/>
      <a:tcStyle>
        <a:tcBdr/>
        <a:fill>
          <a:solidFill>
            <a:srgbClr val="D4E2CE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4E2CE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79" autoAdjust="0"/>
    <p:restoredTop sz="94660"/>
  </p:normalViewPr>
  <p:slideViewPr>
    <p:cSldViewPr snapToGrid="0">
      <p:cViewPr varScale="1">
        <p:scale>
          <a:sx n="90" d="100"/>
          <a:sy n="90" d="100"/>
        </p:scale>
        <p:origin x="2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18277D4-5916-9278-32F5-E0B9AD657E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4340225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1FEAE9-2B40-3C08-3915-5BF1A395CA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73726" y="0"/>
            <a:ext cx="4341812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AAB973-B90A-47C5-8BBB-104268A9D3AF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6C1C00-FDC9-899B-6A99-BE3AE102C6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6542089"/>
            <a:ext cx="4340225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C9317A-6D10-A7FF-8496-525E8FC396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73726" y="6542089"/>
            <a:ext cx="4341812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41B877-B5E5-45BD-A349-C4568C69A1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1509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2" y="1"/>
            <a:ext cx="4340755" cy="34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72" tIns="48273" rIns="96572" bIns="48273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4055" y="1"/>
            <a:ext cx="4340755" cy="345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72" tIns="48273" rIns="96572" bIns="48273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943225" y="860425"/>
            <a:ext cx="4130675" cy="232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001713" y="3314165"/>
            <a:ext cx="8013700" cy="2711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72" tIns="48273" rIns="96572" bIns="48273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2" y="6541053"/>
            <a:ext cx="4340755" cy="345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72" tIns="48273" rIns="96572" bIns="48273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4055" y="6541053"/>
            <a:ext cx="4340755" cy="345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72" tIns="48273" rIns="96572" bIns="48273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ts val="1200"/>
              </a:pPr>
              <a:t>‹#›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1001713" y="3314165"/>
            <a:ext cx="8013700" cy="2711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72" tIns="48273" rIns="96572" bIns="48273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43225" y="860425"/>
            <a:ext cx="4130675" cy="232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1001713" y="3314165"/>
            <a:ext cx="8013700" cy="2711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72" tIns="48273" rIns="96572" bIns="48273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43225" y="860425"/>
            <a:ext cx="4130675" cy="232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1001713" y="3314165"/>
            <a:ext cx="8013700" cy="2711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72" tIns="48273" rIns="96572" bIns="48273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43225" y="860425"/>
            <a:ext cx="4130675" cy="232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1001713" y="3314165"/>
            <a:ext cx="8013700" cy="2711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72" tIns="48273" rIns="96572" bIns="48273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43225" y="860425"/>
            <a:ext cx="4130675" cy="232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1001713" y="3314165"/>
            <a:ext cx="8013700" cy="2711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72" tIns="48273" rIns="96572" bIns="48273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43225" y="860425"/>
            <a:ext cx="4130675" cy="232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1001713" y="3314165"/>
            <a:ext cx="8013700" cy="2711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72" tIns="48273" rIns="96572" bIns="48273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43225" y="860425"/>
            <a:ext cx="4130675" cy="232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B86F04FD-79B3-7A14-8AAC-B49DA4E97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>
            <a:extLst>
              <a:ext uri="{FF2B5EF4-FFF2-40B4-BE49-F238E27FC236}">
                <a16:creationId xmlns:a16="http://schemas.microsoft.com/office/drawing/2014/main" id="{A6E79CAF-D494-45D0-73D5-95B9C8BB10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01713" y="3314165"/>
            <a:ext cx="8013700" cy="2711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72" tIns="48273" rIns="96572" bIns="48273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A90C6D16-DD6F-1294-AF91-D9D0A1CA84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943225" y="860425"/>
            <a:ext cx="4130675" cy="232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222289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0B017C3D-B578-3D28-98D5-CA4DCA2B6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>
            <a:extLst>
              <a:ext uri="{FF2B5EF4-FFF2-40B4-BE49-F238E27FC236}">
                <a16:creationId xmlns:a16="http://schemas.microsoft.com/office/drawing/2014/main" id="{EE5E97C4-33E8-4CFA-7DCC-071C84D5CB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01713" y="3314165"/>
            <a:ext cx="8013700" cy="2711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72" tIns="48273" rIns="96572" bIns="48273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74F4548D-FB57-A8D4-6534-87E55D730E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943225" y="860425"/>
            <a:ext cx="4130675" cy="232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995009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1001713" y="3314165"/>
            <a:ext cx="8013700" cy="2711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72" tIns="48273" rIns="96572" bIns="48273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43225" y="860425"/>
            <a:ext cx="4130675" cy="232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1001713" y="3314165"/>
            <a:ext cx="8013700" cy="2711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72" tIns="48273" rIns="96572" bIns="48273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43225" y="860425"/>
            <a:ext cx="4130675" cy="232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1001713" y="3314165"/>
            <a:ext cx="8013700" cy="2711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72" tIns="48273" rIns="96572" bIns="48273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43225" y="860425"/>
            <a:ext cx="4130675" cy="232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1001713" y="3314165"/>
            <a:ext cx="8013700" cy="2711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72" tIns="48273" rIns="96572" bIns="48273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43225" y="860425"/>
            <a:ext cx="4130675" cy="232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1001713" y="3314165"/>
            <a:ext cx="8013700" cy="2711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72" tIns="48273" rIns="96572" bIns="48273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43225" y="860425"/>
            <a:ext cx="4130675" cy="232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1001713" y="3314165"/>
            <a:ext cx="8013700" cy="2711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72" tIns="48273" rIns="96572" bIns="48273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43225" y="860425"/>
            <a:ext cx="4130675" cy="232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1001713" y="3314165"/>
            <a:ext cx="8013700" cy="2711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72" tIns="48273" rIns="96572" bIns="48273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43225" y="860425"/>
            <a:ext cx="4130675" cy="232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1001713" y="3314165"/>
            <a:ext cx="8013700" cy="2711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72" tIns="48273" rIns="96572" bIns="48273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43225" y="860425"/>
            <a:ext cx="4130675" cy="232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 txBox="1">
            <a:spLocks noGrp="1"/>
          </p:cNvSpPr>
          <p:nvPr>
            <p:ph type="body" idx="1"/>
          </p:nvPr>
        </p:nvSpPr>
        <p:spPr>
          <a:xfrm>
            <a:off x="1001713" y="3314165"/>
            <a:ext cx="8013700" cy="2711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72" tIns="48273" rIns="96572" bIns="48273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192" name="Google Shape;19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43225" y="860425"/>
            <a:ext cx="4130675" cy="232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body" idx="1"/>
          </p:nvPr>
        </p:nvSpPr>
        <p:spPr>
          <a:xfrm>
            <a:off x="104932" y="1979187"/>
            <a:ext cx="12119100" cy="455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DEPARTMENT OF  COMPUTER SCIENCE AND ENGINEERING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20CS8504 -  PROJECT WORK</a:t>
            </a:r>
          </a:p>
          <a:p>
            <a:pPr marL="0" indent="0" algn="ctr">
              <a:buSzPts val="1100"/>
              <a:buNone/>
            </a:pPr>
            <a:r>
              <a:rPr lang="en-US" b="1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END SEMESTER PRACTICAL EXAMINATION- APRIL / MAY - 2026</a:t>
            </a:r>
            <a:endParaRPr lang="en-US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b="1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Batch No.:18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Date:30/03/2026</a:t>
            </a:r>
            <a:endParaRPr dirty="0">
              <a:latin typeface="Arial Narrow" panose="020B0606020202030204" pitchFamily="34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Session: AN</a:t>
            </a:r>
            <a:endParaRPr b="1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l="16357" r="14907" b="8148"/>
          <a:stretch/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0"/>
            <a:ext cx="5348811" cy="1873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19100" cy="261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>
              <a:buSzPts val="3600"/>
              <a:buNone/>
            </a:pPr>
            <a:r>
              <a:rPr lang="en-US" sz="36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Lung-</a:t>
            </a:r>
            <a:r>
              <a:rPr lang="en-US" sz="3600" b="1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TransNet</a:t>
            </a:r>
            <a:r>
              <a:rPr lang="en-US" sz="36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: A Transfer Learning-Based CNN Framework for Multi-Class Lung Disease Prediction</a:t>
            </a:r>
            <a:endParaRPr lang="en-US" sz="3600" b="1" dirty="0">
              <a:latin typeface="Arial Narrow" panose="020B0606020202030204" pitchFamily="34" charset="0"/>
              <a:ea typeface="Arial Narrow"/>
              <a:cs typeface="Times New Roman" panose="02020603050405020304" pitchFamily="18" charset="0"/>
              <a:sym typeface="Arial Narrow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body" idx="1"/>
          </p:nvPr>
        </p:nvSpPr>
        <p:spPr>
          <a:xfrm>
            <a:off x="-1" y="3631450"/>
            <a:ext cx="6434668" cy="215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buSzPts val="24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Guide Name:   </a:t>
            </a: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	</a:t>
            </a:r>
          </a:p>
          <a:p>
            <a:pPr marL="0" lvl="0" indent="0"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     Mrs. </a:t>
            </a:r>
            <a:r>
              <a:rPr lang="en-US" sz="2400" b="1" dirty="0">
                <a:latin typeface="Arial Narrow" panose="020B0606020202030204" pitchFamily="34" charset="0"/>
              </a:rPr>
              <a:t>VALLI PRIYADHARSHINI K,M.E.,(</a:t>
            </a:r>
            <a:r>
              <a:rPr lang="en-US" sz="2400" b="1" dirty="0" err="1">
                <a:latin typeface="Arial Narrow" panose="020B0606020202030204" pitchFamily="34" charset="0"/>
              </a:rPr>
              <a:t>Ph.D</a:t>
            </a:r>
            <a:r>
              <a:rPr lang="en-US" sz="2400" b="1" dirty="0">
                <a:latin typeface="Arial Narrow" panose="020B0606020202030204" pitchFamily="34" charset="0"/>
              </a:rPr>
              <a:t>).,</a:t>
            </a:r>
            <a:endParaRPr lang="en-US" sz="2400" b="1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99" name="Google Shape;99;p2"/>
          <p:cNvSpPr txBox="1">
            <a:spLocks noGrp="1"/>
          </p:cNvSpPr>
          <p:nvPr>
            <p:ph type="body" idx="1"/>
          </p:nvPr>
        </p:nvSpPr>
        <p:spPr>
          <a:xfrm>
            <a:off x="6254800" y="3631450"/>
            <a:ext cx="59372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Team Members: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		DHASHINESH K(811722104031)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		IGNATIUSS J (811722104055)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		INFANT ALAN L (811722104057)		</a:t>
            </a:r>
            <a:r>
              <a:rPr lang="en-IN" sz="2400" b="1" dirty="0">
                <a:latin typeface="Arial Narrow"/>
                <a:ea typeface="Arial Narrow"/>
                <a:cs typeface="Arial Narrow"/>
                <a:sym typeface="Arial Narrow"/>
              </a:rPr>
              <a:t> </a:t>
            </a:r>
            <a:endParaRPr lang="fr-FR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 sz="4000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838200" y="863600"/>
            <a:ext cx="10515600" cy="549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600" dirty="0">
                <a:latin typeface="Arial Narrow" panose="020B0606020202030204" pitchFamily="34" charset="0"/>
                <a:cs typeface="Times New Roman" panose="02020603050405020304" pitchFamily="18" charset="0"/>
              </a:rPr>
              <a:t>To develop an efficient </a:t>
            </a:r>
            <a:r>
              <a:rPr lang="en-US" sz="26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AI-based lung disease classification system</a:t>
            </a:r>
            <a:r>
              <a:rPr lang="en-US" sz="2600" dirty="0">
                <a:latin typeface="Arial Narrow" panose="020B0606020202030204" pitchFamily="34" charset="0"/>
                <a:cs typeface="Times New Roman" panose="02020603050405020304" pitchFamily="18" charset="0"/>
              </a:rPr>
              <a:t> using chest X-ray images that supports early and accurate diagnosis.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latin typeface="Arial Narrow" panose="020B0606020202030204" pitchFamily="34" charset="0"/>
                <a:cs typeface="Times New Roman" panose="02020603050405020304" pitchFamily="18" charset="0"/>
              </a:rPr>
              <a:t>To apply </a:t>
            </a:r>
            <a:r>
              <a:rPr lang="en-US" sz="26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transfer learning with the </a:t>
            </a:r>
            <a:r>
              <a:rPr lang="en-US" sz="2600" b="1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Xception</a:t>
            </a:r>
            <a:r>
              <a:rPr lang="en-US" sz="26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 CNN architecture</a:t>
            </a:r>
            <a:r>
              <a:rPr lang="en-US" sz="2600" dirty="0">
                <a:latin typeface="Arial Narrow" panose="020B0606020202030204" pitchFamily="34" charset="0"/>
                <a:cs typeface="Times New Roman" panose="02020603050405020304" pitchFamily="18" charset="0"/>
              </a:rPr>
              <a:t>, along with image preprocessing and data augmentation, to enhance feature extraction and improve classification performance for multiple lung diseases such as pneumonia, tuberculosis, lung cancer, and COVID-19.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sz="2600" dirty="0">
                <a:latin typeface="Arial Narrow" panose="020B0606020202030204" pitchFamily="34" charset="0"/>
              </a:rPr>
              <a:t>To evaluate the proposed system by comparing its performance with other deep learning models using metrics like accuracy, precision, recall, and    F1-score.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 sz="4000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4"/>
          <p:cNvSpPr txBox="1">
            <a:spLocks noGrp="1"/>
          </p:cNvSpPr>
          <p:nvPr>
            <p:ph type="body" idx="1"/>
          </p:nvPr>
        </p:nvSpPr>
        <p:spPr>
          <a:xfrm>
            <a:off x="838199" y="810000"/>
            <a:ext cx="10515601" cy="5651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600" dirty="0">
                <a:latin typeface="Arial Narrow" panose="020B0606020202030204" pitchFamily="34" charset="0"/>
              </a:rPr>
              <a:t>Lung diseases such as pneumonia, tuberculosis, lung cancer, and COVID-19 require </a:t>
            </a:r>
            <a:r>
              <a:rPr lang="en-US" sz="2600" b="1" dirty="0">
                <a:latin typeface="Arial Narrow" panose="020B0606020202030204" pitchFamily="34" charset="0"/>
              </a:rPr>
              <a:t>early and accurate diagnosis</a:t>
            </a:r>
            <a:r>
              <a:rPr lang="en-US" sz="2600" dirty="0">
                <a:latin typeface="Arial Narrow" panose="020B0606020202030204" pitchFamily="34" charset="0"/>
              </a:rPr>
              <a:t> for effective treatment.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latin typeface="Arial Narrow" panose="020B0606020202030204" pitchFamily="34" charset="0"/>
              </a:rPr>
              <a:t>Chest X-ray imaging is widely used, but </a:t>
            </a:r>
            <a:r>
              <a:rPr lang="en-US" sz="2600" b="1" dirty="0">
                <a:latin typeface="Arial Narrow" panose="020B0606020202030204" pitchFamily="34" charset="0"/>
              </a:rPr>
              <a:t>manual interpretation</a:t>
            </a:r>
            <a:r>
              <a:rPr lang="en-US" sz="2600" dirty="0">
                <a:latin typeface="Arial Narrow" panose="020B0606020202030204" pitchFamily="34" charset="0"/>
              </a:rPr>
              <a:t> is </a:t>
            </a:r>
            <a:r>
              <a:rPr lang="en-US" sz="2600" b="1" dirty="0">
                <a:latin typeface="Arial Narrow" panose="020B0606020202030204" pitchFamily="34" charset="0"/>
              </a:rPr>
              <a:t>time-consuming</a:t>
            </a:r>
            <a:r>
              <a:rPr lang="en-US" sz="2600" dirty="0">
                <a:latin typeface="Arial Narrow" panose="020B0606020202030204" pitchFamily="34" charset="0"/>
              </a:rPr>
              <a:t> and </a:t>
            </a:r>
            <a:r>
              <a:rPr lang="en-US" sz="2600" b="1" dirty="0">
                <a:latin typeface="Arial Narrow" panose="020B0606020202030204" pitchFamily="34" charset="0"/>
              </a:rPr>
              <a:t>error-prone</a:t>
            </a:r>
            <a:r>
              <a:rPr lang="en-US" sz="2600" dirty="0">
                <a:latin typeface="Arial Narrow" panose="020B0606020202030204" pitchFamily="34" charset="0"/>
              </a:rPr>
              <a:t>, depending on expert analysis.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latin typeface="Arial Narrow" panose="020B0606020202030204" pitchFamily="34" charset="0"/>
              </a:rPr>
              <a:t>Recent advancements in </a:t>
            </a:r>
            <a:r>
              <a:rPr lang="en-US" sz="2600" b="1" dirty="0">
                <a:latin typeface="Arial Narrow" panose="020B0606020202030204" pitchFamily="34" charset="0"/>
              </a:rPr>
              <a:t>Artificial Intelligence (AI)</a:t>
            </a:r>
            <a:r>
              <a:rPr lang="en-US" sz="2600" dirty="0">
                <a:latin typeface="Arial Narrow" panose="020B0606020202030204" pitchFamily="34" charset="0"/>
              </a:rPr>
              <a:t> and </a:t>
            </a:r>
            <a:r>
              <a:rPr lang="en-US" sz="2600" b="1" dirty="0">
                <a:latin typeface="Arial Narrow" panose="020B0606020202030204" pitchFamily="34" charset="0"/>
              </a:rPr>
              <a:t>Deep Learning</a:t>
            </a:r>
            <a:r>
              <a:rPr lang="en-US" sz="2600" dirty="0">
                <a:latin typeface="Arial Narrow" panose="020B0606020202030204" pitchFamily="34" charset="0"/>
              </a:rPr>
              <a:t>, especially </a:t>
            </a:r>
            <a:r>
              <a:rPr lang="en-US" sz="2600" b="1" dirty="0">
                <a:latin typeface="Arial Narrow" panose="020B0606020202030204" pitchFamily="34" charset="0"/>
              </a:rPr>
              <a:t>CNN-based Transfer Learning (</a:t>
            </a:r>
            <a:r>
              <a:rPr lang="en-US" sz="2600" b="1" dirty="0" err="1">
                <a:latin typeface="Arial Narrow" panose="020B0606020202030204" pitchFamily="34" charset="0"/>
              </a:rPr>
              <a:t>Xception</a:t>
            </a:r>
            <a:r>
              <a:rPr lang="en-US" sz="2600" b="1" dirty="0">
                <a:latin typeface="Arial Narrow" panose="020B0606020202030204" pitchFamily="34" charset="0"/>
              </a:rPr>
              <a:t>)</a:t>
            </a:r>
            <a:r>
              <a:rPr lang="en-US" sz="2600" dirty="0">
                <a:latin typeface="Arial Narrow" panose="020B0606020202030204" pitchFamily="34" charset="0"/>
              </a:rPr>
              <a:t>, enable </a:t>
            </a:r>
            <a:r>
              <a:rPr lang="en-US" sz="2600" b="1" dirty="0">
                <a:latin typeface="Arial Narrow" panose="020B0606020202030204" pitchFamily="34" charset="0"/>
              </a:rPr>
              <a:t>automated feature extraction</a:t>
            </a:r>
            <a:r>
              <a:rPr lang="en-US" sz="2600" dirty="0">
                <a:latin typeface="Arial Narrow" panose="020B0606020202030204" pitchFamily="34" charset="0"/>
              </a:rPr>
              <a:t> and </a:t>
            </a:r>
            <a:r>
              <a:rPr lang="en-US" sz="2600" b="1" dirty="0">
                <a:latin typeface="Arial Narrow" panose="020B0606020202030204" pitchFamily="34" charset="0"/>
              </a:rPr>
              <a:t>accurate multi-class classification</a:t>
            </a:r>
            <a:r>
              <a:rPr lang="en-US" sz="2600" dirty="0">
                <a:latin typeface="Arial Narrow" panose="020B0606020202030204" pitchFamily="34" charset="0"/>
              </a:rPr>
              <a:t> of lung diseases.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 sz="1400" b="0" i="0" u="none" strike="noStrike" cap="none" dirty="0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5"/>
          <p:cNvGraphicFramePr/>
          <p:nvPr>
            <p:extLst>
              <p:ext uri="{D42A27DB-BD31-4B8C-83A1-F6EECF244321}">
                <p14:modId xmlns:p14="http://schemas.microsoft.com/office/powerpoint/2010/main" val="342784668"/>
              </p:ext>
            </p:extLst>
          </p:nvPr>
        </p:nvGraphicFramePr>
        <p:xfrm>
          <a:off x="152400" y="708011"/>
          <a:ext cx="11826239" cy="5794391"/>
        </p:xfrm>
        <a:graphic>
          <a:graphicData uri="http://schemas.openxmlformats.org/drawingml/2006/table">
            <a:tbl>
              <a:tblPr firstRow="1" bandRow="1">
                <a:noFill/>
                <a:tableStyleId>{0A282954-5174-4F31-A0F9-3197DDE5C557}</a:tableStyleId>
              </a:tblPr>
              <a:tblGrid>
                <a:gridCol w="4690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654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TITLE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AUTHORS</a:t>
                      </a:r>
                      <a:endParaRPr sz="24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PUBLISHER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TECHNOLOGY USED</a:t>
                      </a:r>
                      <a:endParaRPr sz="240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57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0" kern="120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LIME-Enabled Investigation of Convolutional Neural Network Performances in COVID-19 Chest X-Ray Detection</a:t>
                      </a:r>
                      <a:endParaRPr lang="en-US" sz="1600" b="0" i="0" dirty="0">
                        <a:solidFill>
                          <a:schemeClr val="accent4">
                            <a:lumMod val="10000"/>
                          </a:schemeClr>
                        </a:solidFill>
                        <a:latin typeface="Arial Narrow" panose="020B0606020202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600" kern="100" dirty="0"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Cervantes, Eduardo Gasca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IEEE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kern="120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Convolutional neural network</a:t>
                      </a:r>
                      <a:endParaRPr lang="en-US" sz="1600" b="0" i="0" kern="1200" dirty="0">
                        <a:solidFill>
                          <a:schemeClr val="accent4">
                            <a:lumMod val="10000"/>
                          </a:schemeClr>
                        </a:solidFill>
                        <a:effectLst/>
                        <a:latin typeface="Arial Narrow" panose="020B0606020202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572">
                <a:tc>
                  <a:txBody>
                    <a:bodyPr/>
                    <a:lstStyle/>
                    <a:p>
                      <a:pPr algn="ctr"/>
                      <a:r>
                        <a:rPr lang="en-IN" sz="1600" b="0" kern="120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Lung </a:t>
                      </a:r>
                      <a:r>
                        <a:rPr lang="en-IN" sz="1600" b="0" kern="120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Tumor</a:t>
                      </a:r>
                      <a:r>
                        <a:rPr lang="en-IN" sz="1600" b="0" kern="120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 Classification and Detection from CT Scan Images using Deep Convolutional Neural Networks (DCNN)</a:t>
                      </a:r>
                      <a:endParaRPr lang="en-US" sz="1600" b="0" i="0" dirty="0">
                        <a:solidFill>
                          <a:schemeClr val="accent4">
                            <a:lumMod val="10000"/>
                          </a:schemeClr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600" kern="100" dirty="0"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Mohanapriya, N., B. </a:t>
                      </a:r>
                      <a:r>
                        <a:rPr lang="en-IN" sz="1600" kern="100" dirty="0" err="1"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Kalaavathi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IEEE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Deep Convolutional neural network</a:t>
                      </a:r>
                      <a:endParaRPr lang="en-US" sz="1600" b="0" i="0" dirty="0">
                        <a:solidFill>
                          <a:schemeClr val="accent4">
                            <a:lumMod val="10000"/>
                          </a:schemeClr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 marL="68580" marR="68580" marT="34289" marB="3428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284">
                <a:tc>
                  <a:txBody>
                    <a:bodyPr/>
                    <a:lstStyle/>
                    <a:p>
                      <a:pPr algn="ctr"/>
                      <a:r>
                        <a:rPr lang="en-IN" sz="1600" b="0" kern="120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Conventional Neural Network approach for the Diagnosis of Lung </a:t>
                      </a:r>
                      <a:r>
                        <a:rPr lang="en-IN" sz="1600" b="0" kern="120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Tumor</a:t>
                      </a:r>
                      <a:endParaRPr lang="en-US" sz="1600" b="0" i="0" dirty="0">
                        <a:solidFill>
                          <a:schemeClr val="accent4">
                            <a:lumMod val="10000"/>
                          </a:schemeClr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 marL="68580" marR="68580" marT="34289" marB="34289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600" kern="100" dirty="0"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Agrawal, Vijay L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IEEE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kern="120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MLP Neural Network with quick propagation (QP) </a:t>
                      </a:r>
                      <a:endParaRPr lang="en-US" sz="1600" b="0" i="0" dirty="0">
                        <a:solidFill>
                          <a:schemeClr val="accent4">
                            <a:lumMod val="10000"/>
                          </a:schemeClr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 marL="68580" marR="68580" marT="34289" marB="3428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284">
                <a:tc>
                  <a:txBody>
                    <a:bodyPr/>
                    <a:lstStyle/>
                    <a:p>
                      <a:pPr algn="ctr"/>
                      <a:r>
                        <a:rPr lang="en-IN" sz="1600" b="0" kern="120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Deep learning to distinguish COVID-19 from other lung infections, pleural diseases, and lung </a:t>
                      </a:r>
                      <a:r>
                        <a:rPr lang="en-IN" sz="1600" b="0" kern="1200" dirty="0" err="1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tumors</a:t>
                      </a:r>
                      <a:endParaRPr lang="en-US" sz="1600" b="0" i="0" dirty="0">
                        <a:solidFill>
                          <a:schemeClr val="accent4">
                            <a:lumMod val="10000"/>
                          </a:schemeClr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 marL="68580" marR="68580" marT="34289" marB="34289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600" kern="100" dirty="0"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Serener, Ali, and Sertan Serte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IEEE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accent4">
                              <a:lumMod val="10000"/>
                            </a:schemeClr>
                          </a:solidFill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Deep learning architectures</a:t>
                      </a:r>
                      <a:endParaRPr lang="en-US" sz="1600" b="0" i="0" dirty="0">
                        <a:solidFill>
                          <a:schemeClr val="accent4">
                            <a:lumMod val="10000"/>
                          </a:schemeClr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 marL="68580" marR="68580" marT="34289" marB="3428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3570">
                <a:tc>
                  <a:txBody>
                    <a:bodyPr/>
                    <a:lstStyle/>
                    <a:p>
                      <a:pPr algn="ctr"/>
                      <a:r>
                        <a:rPr lang="en-IN" sz="1600" b="0" kern="120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An Automatic Lung Cancer Detection and Classification (ALCDC) System Using</a:t>
                      </a:r>
                    </a:p>
                    <a:p>
                      <a:pPr algn="ctr"/>
                      <a:r>
                        <a:rPr lang="en-IN" sz="1600" b="0" kern="120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Convolutional Neural Network</a:t>
                      </a:r>
                      <a:endParaRPr lang="en-US" sz="1600" b="0" i="0" dirty="0">
                        <a:solidFill>
                          <a:schemeClr val="accent4">
                            <a:lumMod val="10000"/>
                          </a:schemeClr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 marL="68580" marR="68580" marT="34289" marB="34289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600" kern="100" dirty="0">
                          <a:effectLst/>
                          <a:latin typeface="Arial Narrow" panose="020B0606020202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Abdul, Wadood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IEEE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kern="1200" dirty="0">
                          <a:solidFill>
                            <a:schemeClr val="accent4">
                              <a:lumMod val="10000"/>
                            </a:schemeClr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Profound learning techniques </a:t>
                      </a:r>
                      <a:endParaRPr lang="en-US" sz="1600" b="0" i="0" dirty="0">
                        <a:solidFill>
                          <a:schemeClr val="accent4">
                            <a:lumMod val="10000"/>
                          </a:schemeClr>
                        </a:solidFill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 marL="68580" marR="68580" marT="34289" marB="3428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9284">
                <a:tc>
                  <a:txBody>
                    <a:bodyPr/>
                    <a:lstStyle/>
                    <a:p>
                      <a:pPr algn="ctr"/>
                      <a:r>
                        <a:rPr lang="en-IN" sz="1600" b="0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Convolutional Neural Network approach for the Classification and Recognition of Lung Nodules</a:t>
                      </a:r>
                      <a:endParaRPr lang="en-US" sz="1600" b="0" dirty="0"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Sachin Bhat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IEEE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Arial Narrow" panose="020B0606020202030204" pitchFamily="34" charset="0"/>
                          <a:cs typeface="Times New Roman" pitchFamily="18" charset="0"/>
                        </a:rPr>
                        <a:t>Convolutional neural network</a:t>
                      </a:r>
                    </a:p>
                  </a:txBody>
                  <a:tcPr marT="45719" marB="45719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9284">
                <a:tc>
                  <a:txBody>
                    <a:bodyPr/>
                    <a:lstStyle/>
                    <a:p>
                      <a:pPr algn="ctr"/>
                      <a:r>
                        <a:rPr lang="en-IN" sz="1600" b="0" kern="1200" dirty="0">
                          <a:solidFill>
                            <a:schemeClr val="tx1"/>
                          </a:solidFill>
                          <a:effectLst/>
                          <a:latin typeface="Arial Narrow" panose="020B0606020202030204" pitchFamily="34" charset="0"/>
                          <a:cs typeface="Times New Roman" panose="02020603050405020304" pitchFamily="18" charset="0"/>
                        </a:rPr>
                        <a:t>Classification and Segmentation Techniques for Detection of Lung Cancer from CT Images</a:t>
                      </a:r>
                      <a:endParaRPr lang="en-US" sz="1600" b="0" dirty="0">
                        <a:latin typeface="Arial Narrow" panose="020B0606020202030204" pitchFamily="34" charset="0"/>
                        <a:cs typeface="Times New Roman" pitchFamily="18" charset="0"/>
                      </a:endParaRPr>
                    </a:p>
                  </a:txBody>
                  <a:tcPr marT="45719" marB="45719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Prenitha</a:t>
                      </a:r>
                      <a:r>
                        <a:rPr lang="en-IN" sz="1600" b="0" i="0" u="sng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 </a:t>
                      </a:r>
                      <a:r>
                        <a:rPr lang="en-IN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rial Narrow" panose="020B0606020202030204" pitchFamily="34" charset="0"/>
                          <a:ea typeface="Calibri"/>
                          <a:cs typeface="Times New Roman" panose="02020603050405020304" pitchFamily="18" charset="0"/>
                          <a:sym typeface="Arial"/>
                        </a:rPr>
                        <a:t>Lobo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6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Times New Roman" panose="02020603050405020304" pitchFamily="18" charset="0"/>
                          <a:sym typeface="Arial Narrow"/>
                        </a:rPr>
                        <a:t>IEEE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 panose="02020603050405020304" pitchFamily="18" charset="0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Arial Narrow" panose="020B0606020202030204" pitchFamily="34" charset="0"/>
                          <a:cs typeface="Times New Roman" pitchFamily="18" charset="0"/>
                        </a:rPr>
                        <a:t>Segmentation technique</a:t>
                      </a:r>
                    </a:p>
                  </a:txBody>
                  <a:tcPr marT="45719" marB="45719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283FE-1356-E9DB-C5C0-260C902C0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2132" y="1258333"/>
            <a:ext cx="10371668" cy="4917123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IN" sz="26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en-US" sz="2600" b="1" dirty="0">
                <a:latin typeface="Arial Narrow" panose="020B0606020202030204" pitchFamily="34" charset="0"/>
              </a:rPr>
              <a:t>Manual Diagnosis by Radiologists</a:t>
            </a:r>
            <a:r>
              <a:rPr lang="en-US" sz="2600" dirty="0">
                <a:latin typeface="Arial Narrow" panose="020B0606020202030204" pitchFamily="34" charset="0"/>
              </a:rPr>
              <a:t>: Chest X-rays (CXR) and CT scans are analyzed manually to detect lung diseases.</a:t>
            </a:r>
          </a:p>
          <a:p>
            <a:pPr algn="just">
              <a:lnSpc>
                <a:spcPct val="150000"/>
              </a:lnSpc>
            </a:pPr>
            <a:r>
              <a:rPr lang="en-US" sz="2600" b="1" dirty="0">
                <a:latin typeface="Arial Narrow" panose="020B0606020202030204" pitchFamily="34" charset="0"/>
              </a:rPr>
              <a:t>Rule-Based CAD Systems</a:t>
            </a:r>
            <a:r>
              <a:rPr lang="en-US" sz="2600" dirty="0">
                <a:latin typeface="Arial Narrow" panose="020B0606020202030204" pitchFamily="34" charset="0"/>
              </a:rPr>
              <a:t>: Use </a:t>
            </a:r>
            <a:r>
              <a:rPr lang="en-US" sz="2600" b="1" dirty="0">
                <a:latin typeface="Arial Narrow" panose="020B0606020202030204" pitchFamily="34" charset="0"/>
              </a:rPr>
              <a:t>edge detection</a:t>
            </a:r>
            <a:r>
              <a:rPr lang="en-US" sz="2600" dirty="0">
                <a:latin typeface="Arial Narrow" panose="020B0606020202030204" pitchFamily="34" charset="0"/>
              </a:rPr>
              <a:t> and </a:t>
            </a:r>
            <a:r>
              <a:rPr lang="en-US" sz="2600" b="1" dirty="0">
                <a:latin typeface="Arial Narrow" panose="020B0606020202030204" pitchFamily="34" charset="0"/>
              </a:rPr>
              <a:t>texture analysis</a:t>
            </a:r>
            <a:r>
              <a:rPr lang="en-US" sz="2600" dirty="0">
                <a:latin typeface="Arial Narrow" panose="020B0606020202030204" pitchFamily="34" charset="0"/>
              </a:rPr>
              <a:t> with predefined rules to identify abnormalities.</a:t>
            </a:r>
          </a:p>
          <a:p>
            <a:pPr algn="just">
              <a:lnSpc>
                <a:spcPct val="150000"/>
              </a:lnSpc>
            </a:pPr>
            <a:r>
              <a:rPr lang="en-US" sz="2600" b="1" dirty="0">
                <a:latin typeface="Arial Narrow" panose="020B0606020202030204" pitchFamily="34" charset="0"/>
              </a:rPr>
              <a:t>Machine Learning Approaches</a:t>
            </a:r>
            <a:r>
              <a:rPr lang="en-US" sz="2600" dirty="0">
                <a:latin typeface="Arial Narrow" panose="020B0606020202030204" pitchFamily="34" charset="0"/>
              </a:rPr>
              <a:t>: Models like </a:t>
            </a:r>
            <a:r>
              <a:rPr lang="en-US" sz="2600" b="1" dirty="0">
                <a:latin typeface="Arial Narrow" panose="020B0606020202030204" pitchFamily="34" charset="0"/>
              </a:rPr>
              <a:t>SVM, Random Forest, and          k-NN</a:t>
            </a:r>
            <a:r>
              <a:rPr lang="en-US" sz="2600" dirty="0">
                <a:latin typeface="Arial Narrow" panose="020B0606020202030204" pitchFamily="34" charset="0"/>
              </a:rPr>
              <a:t> use </a:t>
            </a:r>
            <a:r>
              <a:rPr lang="en-US" sz="2600" b="1" dirty="0">
                <a:latin typeface="Arial Narrow" panose="020B0606020202030204" pitchFamily="34" charset="0"/>
              </a:rPr>
              <a:t>handcrafted features</a:t>
            </a:r>
            <a:r>
              <a:rPr lang="en-US" sz="2600" dirty="0">
                <a:latin typeface="Arial Narrow" panose="020B0606020202030204" pitchFamily="34" charset="0"/>
              </a:rPr>
              <a:t> for classification.</a:t>
            </a:r>
          </a:p>
          <a:p>
            <a:pPr algn="just">
              <a:lnSpc>
                <a:spcPct val="150000"/>
              </a:lnSpc>
            </a:pPr>
            <a:endParaRPr lang="en-IN" sz="2600" dirty="0">
              <a:latin typeface="Arial Narrow" panose="020B0606020202030204" pitchFamily="34" charset="0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-1" y="0"/>
            <a:ext cx="12345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EXISTING SYSTEM</a:t>
            </a:r>
            <a:endParaRPr sz="4000" b="1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96363A3C-A35A-E260-1835-E5DE2D279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>
            <a:extLst>
              <a:ext uri="{FF2B5EF4-FFF2-40B4-BE49-F238E27FC236}">
                <a16:creationId xmlns:a16="http://schemas.microsoft.com/office/drawing/2014/main" id="{7D31AB2C-0E5A-ADE4-41C4-CFA29A54A632}"/>
              </a:ext>
            </a:extLst>
          </p:cNvPr>
          <p:cNvSpPr txBox="1"/>
          <p:nvPr/>
        </p:nvSpPr>
        <p:spPr>
          <a:xfrm>
            <a:off x="-1" y="0"/>
            <a:ext cx="12345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EXISTING SYSTEM</a:t>
            </a:r>
            <a:endParaRPr sz="4000" b="1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" name="AutoShape 2" descr="Deep learning framework for X-ray image-based lung disease detection |  Download Scientific Diagram">
            <a:extLst>
              <a:ext uri="{FF2B5EF4-FFF2-40B4-BE49-F238E27FC236}">
                <a16:creationId xmlns:a16="http://schemas.microsoft.com/office/drawing/2014/main" id="{047FDC23-868C-25AF-EB85-C8CD1ACAB3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96D6CC-C8AE-181A-6AFD-422CEAC6D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249997"/>
            <a:ext cx="11149330" cy="484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651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3BC68205-D448-A254-2014-E8B40CC72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61771-DDCA-FEB3-4E07-43BB7B868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59840"/>
            <a:ext cx="10515600" cy="49171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600" dirty="0">
                <a:latin typeface="Arial Narrow" panose="020B0606020202030204" pitchFamily="34" charset="0"/>
                <a:cs typeface="Times New Roman" panose="02020603050405020304" pitchFamily="18" charset="0"/>
              </a:rPr>
              <a:t>Time-consuming and prone to human error, especially in high-volume settings.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latin typeface="Arial Narrow" panose="020B0606020202030204" pitchFamily="34" charset="0"/>
                <a:cs typeface="Times New Roman" panose="02020603050405020304" pitchFamily="18" charset="0"/>
              </a:rPr>
              <a:t>Dependence on expert availability, which is limited in rural or resource-constrained areas.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latin typeface="Arial Narrow" panose="020B0606020202030204" pitchFamily="34" charset="0"/>
                <a:cs typeface="Times New Roman" panose="02020603050405020304" pitchFamily="18" charset="0"/>
              </a:rPr>
              <a:t>Limited ability to capture complex patterns in medical images.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latin typeface="Arial Narrow" panose="020B0606020202030204" pitchFamily="34" charset="0"/>
                <a:cs typeface="Times New Roman" panose="02020603050405020304" pitchFamily="18" charset="0"/>
              </a:rPr>
              <a:t>Poor generalization to diverse datasets.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latin typeface="Arial Narrow" panose="020B0606020202030204" pitchFamily="34" charset="0"/>
                <a:cs typeface="Times New Roman" panose="02020603050405020304" pitchFamily="18" charset="0"/>
              </a:rPr>
              <a:t>Requires significant domain expertise for feature engineering.</a:t>
            </a:r>
            <a:endParaRPr lang="en-IN" sz="2600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7" name="Google Shape;127;p6">
            <a:extLst>
              <a:ext uri="{FF2B5EF4-FFF2-40B4-BE49-F238E27FC236}">
                <a16:creationId xmlns:a16="http://schemas.microsoft.com/office/drawing/2014/main" id="{F8F044FC-F395-05B8-56C6-FDAEBE1B1B91}"/>
              </a:ext>
            </a:extLst>
          </p:cNvPr>
          <p:cNvSpPr txBox="1"/>
          <p:nvPr/>
        </p:nvSpPr>
        <p:spPr>
          <a:xfrm>
            <a:off x="-1" y="0"/>
            <a:ext cx="12345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IN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</a:t>
            </a:r>
            <a:r>
              <a:rPr lang="en-US" sz="4000" b="1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ROBLEM IDENTIFIED</a:t>
            </a:r>
            <a:endParaRPr sz="4000" b="1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03109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4E79C-145A-8811-9323-F79C2650A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73667"/>
            <a:ext cx="10515600" cy="54689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600" dirty="0">
                <a:latin typeface="Arial Narrow" panose="020B0606020202030204" pitchFamily="34" charset="0"/>
                <a:cs typeface="Times New Roman" panose="02020603050405020304" pitchFamily="18" charset="0"/>
              </a:rPr>
              <a:t>The proposed system for lung disease classification using the </a:t>
            </a:r>
            <a:r>
              <a:rPr lang="en-US" sz="26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Xception</a:t>
            </a:r>
            <a:r>
              <a:rPr lang="en-US" sz="2600" dirty="0">
                <a:latin typeface="Arial Narrow" panose="020B0606020202030204" pitchFamily="34" charset="0"/>
                <a:cs typeface="Times New Roman" panose="02020603050405020304" pitchFamily="18" charset="0"/>
              </a:rPr>
              <a:t> CNN is designed to enhance the accuracy and efficiency of pneumothorax diagnosis. 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latin typeface="Arial Narrow" panose="020B0606020202030204" pitchFamily="34" charset="0"/>
                <a:cs typeface="Times New Roman" panose="02020603050405020304" pitchFamily="18" charset="0"/>
              </a:rPr>
              <a:t>In the initial phase, a comprehensive dataset of chest X-ray images is collected and preprocessed, ensuring uniformity and optimal data quality.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latin typeface="Arial Narrow" panose="020B0606020202030204" pitchFamily="34" charset="0"/>
                <a:cs typeface="Times New Roman" panose="02020603050405020304" pitchFamily="18" charset="0"/>
              </a:rPr>
              <a:t>The </a:t>
            </a:r>
            <a:r>
              <a:rPr lang="en-US" sz="2600" dirty="0" err="1">
                <a:latin typeface="Arial Narrow" panose="020B0606020202030204" pitchFamily="34" charset="0"/>
                <a:cs typeface="Times New Roman" panose="02020603050405020304" pitchFamily="18" charset="0"/>
              </a:rPr>
              <a:t>Xception</a:t>
            </a:r>
            <a:r>
              <a:rPr lang="en-US" sz="2600" dirty="0">
                <a:latin typeface="Arial Narrow" panose="020B0606020202030204" pitchFamily="34" charset="0"/>
                <a:cs typeface="Times New Roman" panose="02020603050405020304" pitchFamily="18" charset="0"/>
              </a:rPr>
              <a:t> CNN architecture is selected for its capacity to effectively learn intricate image features. 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latin typeface="Arial Narrow" panose="020B0606020202030204" pitchFamily="34" charset="0"/>
                <a:cs typeface="Times New Roman" panose="02020603050405020304" pitchFamily="18" charset="0"/>
              </a:rPr>
              <a:t>Transfer learning is applied using pre-trained weights from a general image dataset, expediting model training. </a:t>
            </a:r>
          </a:p>
          <a:p>
            <a:pPr algn="just">
              <a:lnSpc>
                <a:spcPct val="150000"/>
              </a:lnSpc>
            </a:pPr>
            <a:endParaRPr lang="en-IN" sz="2600" dirty="0">
              <a:latin typeface="Arial Narrow" panose="020B0606020202030204" pitchFamily="34" charset="0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0" y="136525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SYSTEM</a:t>
            </a:r>
            <a:endParaRPr sz="4000" b="1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CF4B37-1BD7-47AE-040C-311A2B50B3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23"/>
          <a:stretch>
            <a:fillRect/>
          </a:stretch>
        </p:blipFill>
        <p:spPr>
          <a:xfrm>
            <a:off x="455562" y="934720"/>
            <a:ext cx="11380838" cy="56083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EDF0D6-1A85-DCFB-8FB2-D10365F40725}"/>
              </a:ext>
            </a:extLst>
          </p:cNvPr>
          <p:cNvSpPr txBox="1"/>
          <p:nvPr/>
        </p:nvSpPr>
        <p:spPr>
          <a:xfrm>
            <a:off x="2116694" y="136525"/>
            <a:ext cx="80585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rial Narrow" panose="020B0606020202030204" pitchFamily="34" charset="0"/>
                <a:cs typeface="Times New Roman" panose="02020603050405020304" pitchFamily="18" charset="0"/>
              </a:rPr>
              <a:t>PROPOSED SYSTEM ARCHITECTURE</a:t>
            </a:r>
            <a:endParaRPr lang="en-IN" sz="4000" b="1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08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 sz="4000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9" name="Google Shape;139;p8"/>
          <p:cNvSpPr txBox="1">
            <a:spLocks noGrp="1"/>
          </p:cNvSpPr>
          <p:nvPr>
            <p:ph type="body" idx="2"/>
          </p:nvPr>
        </p:nvSpPr>
        <p:spPr>
          <a:xfrm>
            <a:off x="0" y="1413980"/>
            <a:ext cx="6217920" cy="4801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HARDWARE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Processor          : Intel processor 2.6.0 GHZ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RAM  	             : 4 GB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Hard disk        	: 160 GB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Compact Disk 	: 650 Mb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Keyboard        	: Standard keyboard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US" altLang="en-US" dirty="0">
                <a:latin typeface="Arial Narrow" panose="020B0606020202030204" pitchFamily="34" charset="0"/>
                <a:cs typeface="Times New Roman" panose="02020603050405020304" pitchFamily="18" charset="0"/>
              </a:rPr>
              <a:t>Monitor           	:  15 inch color monitor</a:t>
            </a:r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4"/>
          </p:nvPr>
        </p:nvSpPr>
        <p:spPr>
          <a:xfrm>
            <a:off x="5852160" y="1413980"/>
            <a:ext cx="6339840" cy="4174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SOFTWARE</a:t>
            </a:r>
            <a:endParaRPr b="1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lvl="1">
              <a:lnSpc>
                <a:spcPct val="150000"/>
              </a:lnSpc>
              <a:defRPr/>
            </a:pP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Server Side : Python 3.7.4(64-bit) or (32-bit) 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Client Side : HTML, CSS, Bootstrap 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IDE            : Flask 1.1.1 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Back end    : MySQL 5. 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Server        : WampServer 2i</a:t>
            </a:r>
          </a:p>
          <a:p>
            <a:pPr lvl="1" eaLnBrk="1" hangingPunct="1">
              <a:lnSpc>
                <a:spcPct val="150000"/>
              </a:lnSpc>
              <a:defRPr/>
            </a:pPr>
            <a:r>
              <a:rPr lang="en-IN" dirty="0">
                <a:latin typeface="Arial Narrow" panose="020B0606020202030204" pitchFamily="34" charset="0"/>
                <a:cs typeface="Times New Roman" panose="02020603050405020304" pitchFamily="18" charset="0"/>
              </a:rPr>
              <a:t>OS             : Windows 10 64 –bit </a:t>
            </a:r>
            <a:endParaRPr lang="en-US" cap="all" dirty="0">
              <a:latin typeface="Arial Narrow" panose="020B0606020202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9"/>
          <p:cNvSpPr txBox="1">
            <a:spLocks noGrp="1"/>
          </p:cNvSpPr>
          <p:nvPr>
            <p:ph type="body" idx="1"/>
          </p:nvPr>
        </p:nvSpPr>
        <p:spPr>
          <a:xfrm>
            <a:off x="3801534" y="1253331"/>
            <a:ext cx="542084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286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b="1" dirty="0">
                <a:latin typeface="Arial Narrow" panose="020B0606020202030204" pitchFamily="34" charset="0"/>
                <a:cs typeface="Times New Roman" pitchFamily="18" charset="0"/>
              </a:rPr>
              <a:t>DATA COLLECTION</a:t>
            </a:r>
          </a:p>
          <a:p>
            <a:pPr marL="6286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b="1" dirty="0">
                <a:latin typeface="Arial Narrow" panose="020B0606020202030204" pitchFamily="34" charset="0"/>
                <a:cs typeface="Times New Roman" pitchFamily="18" charset="0"/>
              </a:rPr>
              <a:t>IMAGE ENHANCEMENT</a:t>
            </a:r>
          </a:p>
          <a:p>
            <a:pPr marL="6286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b="1" dirty="0">
                <a:latin typeface="Arial Narrow" panose="020B0606020202030204" pitchFamily="34" charset="0"/>
                <a:cs typeface="Times New Roman" pitchFamily="18" charset="0"/>
              </a:rPr>
              <a:t>CONTOUR EXTRACTION</a:t>
            </a:r>
          </a:p>
          <a:p>
            <a:pPr marL="6286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b="1" dirty="0">
                <a:latin typeface="Arial Narrow" panose="020B0606020202030204" pitchFamily="34" charset="0"/>
                <a:cs typeface="Times New Roman" pitchFamily="18" charset="0"/>
              </a:rPr>
              <a:t>TISSUES CLASSIFICATION</a:t>
            </a:r>
          </a:p>
          <a:p>
            <a:pPr marL="6286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b="1" dirty="0">
                <a:latin typeface="Arial Narrow" panose="020B0606020202030204" pitchFamily="34" charset="0"/>
                <a:cs typeface="Times New Roman" pitchFamily="18" charset="0"/>
              </a:rPr>
              <a:t>DIAGNOSIS DETAILS</a:t>
            </a:r>
          </a:p>
          <a:p>
            <a:pPr marL="628650" indent="-514350" algn="just">
              <a:lnSpc>
                <a:spcPct val="150000"/>
              </a:lnSpc>
              <a:buFont typeface="+mj-lt"/>
              <a:buAutoNum type="arabicPeriod"/>
            </a:pPr>
            <a:endParaRPr lang="en-US" sz="2600" b="1" dirty="0">
              <a:latin typeface="Arial Narrow" panose="020B0606020202030204" pitchFamily="34" charset="0"/>
              <a:cs typeface="Times New Roman" pitchFamily="18" charset="0"/>
            </a:endParaRPr>
          </a:p>
          <a:p>
            <a:pPr marL="628650" indent="-514350">
              <a:buFont typeface="+mj-lt"/>
              <a:buAutoNum type="arabicPeriod"/>
            </a:pPr>
            <a:endParaRPr lang="en-IN" sz="2600" b="1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 MODULE-1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" name="Google Shape;154;p10"/>
          <p:cNvSpPr txBox="1">
            <a:spLocks noGrp="1"/>
          </p:cNvSpPr>
          <p:nvPr>
            <p:ph type="body" idx="1"/>
          </p:nvPr>
        </p:nvSpPr>
        <p:spPr>
          <a:xfrm>
            <a:off x="0" y="1672899"/>
            <a:ext cx="6590855" cy="4876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600" b="1" dirty="0">
                <a:latin typeface="Arial Narrow" panose="020B0606020202030204" pitchFamily="34" charset="0"/>
                <a:cs typeface="Times New Roman" pitchFamily="18" charset="0"/>
              </a:rPr>
              <a:t>DATA COLLECTION</a:t>
            </a:r>
          </a:p>
          <a:p>
            <a:pPr lvl="1" algn="just">
              <a:lnSpc>
                <a:spcPct val="100000"/>
              </a:lnSpc>
            </a:pPr>
            <a:r>
              <a:rPr lang="en-US" sz="2600" dirty="0">
                <a:latin typeface="Arial Narrow" panose="020B0606020202030204" pitchFamily="34" charset="0"/>
                <a:cs typeface="Times New Roman" panose="02020603050405020304" pitchFamily="18" charset="0"/>
              </a:rPr>
              <a:t>Chest x-rays are taken into account in concert of the simplest strategies to diagnose the pneumonic nodules. </a:t>
            </a:r>
          </a:p>
          <a:p>
            <a:pPr lvl="1" algn="just">
              <a:lnSpc>
                <a:spcPct val="100000"/>
              </a:lnSpc>
            </a:pPr>
            <a:r>
              <a:rPr lang="en-US" sz="2600" dirty="0">
                <a:latin typeface="Arial Narrow" panose="020B0606020202030204" pitchFamily="34" charset="0"/>
                <a:cs typeface="Times New Roman" panose="02020603050405020304" pitchFamily="18" charset="0"/>
              </a:rPr>
              <a:t>In this module, we can upload the X-ray scan images with various size and format.</a:t>
            </a:r>
          </a:p>
          <a:p>
            <a:pPr lvl="1" algn="just">
              <a:lnSpc>
                <a:spcPct val="100000"/>
              </a:lnSpc>
            </a:pPr>
            <a:r>
              <a:rPr lang="en-US" sz="2600" dirty="0">
                <a:solidFill>
                  <a:schemeClr val="tx1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This can be collected from KAGGLE website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1A065F-C3C8-ED8F-EE34-0BD2712A5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855" y="1052277"/>
            <a:ext cx="5601144" cy="50342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body" idx="1"/>
          </p:nvPr>
        </p:nvSpPr>
        <p:spPr>
          <a:xfrm>
            <a:off x="0" y="1196328"/>
            <a:ext cx="6493933" cy="5059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600" b="1" dirty="0">
                <a:latin typeface="Arial Narrow" panose="020B0606020202030204" pitchFamily="34" charset="0"/>
                <a:cs typeface="Times New Roman" pitchFamily="18" charset="0"/>
              </a:rPr>
              <a:t>IMAGE ENHANCEMENT</a:t>
            </a:r>
          </a:p>
          <a:p>
            <a:pPr algn="just">
              <a:lnSpc>
                <a:spcPct val="100000"/>
              </a:lnSpc>
            </a:pPr>
            <a:r>
              <a:rPr lang="en-US" sz="2600" dirty="0">
                <a:latin typeface="Arial Narrow" panose="020B0606020202030204" pitchFamily="34" charset="0"/>
                <a:cs typeface="Times New Roman" pitchFamily="18" charset="0"/>
              </a:rPr>
              <a:t>Pre-processing is a common name for operations with images at the lowest level of abstraction both input and output are intensity images. </a:t>
            </a:r>
          </a:p>
          <a:p>
            <a:pPr algn="just">
              <a:lnSpc>
                <a:spcPct val="100000"/>
              </a:lnSpc>
            </a:pPr>
            <a:r>
              <a:rPr lang="en-US" sz="2600" dirty="0">
                <a:latin typeface="Arial Narrow" panose="020B0606020202030204" pitchFamily="34" charset="0"/>
                <a:cs typeface="Times New Roman" pitchFamily="18" charset="0"/>
              </a:rPr>
              <a:t>In this module, resize the scan image for future process and also implement median filtering algorithm to remove the noises in images</a:t>
            </a:r>
          </a:p>
        </p:txBody>
      </p:sp>
      <p:sp>
        <p:nvSpPr>
          <p:cNvPr id="162" name="Google Shape;162;p11"/>
          <p:cNvSpPr txBox="1">
            <a:spLocks noGrp="1"/>
          </p:cNvSpPr>
          <p:nvPr>
            <p:ph type="title"/>
          </p:nvPr>
        </p:nvSpPr>
        <p:spPr>
          <a:xfrm>
            <a:off x="0" y="67734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 MODULE-2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8230D2-8668-EF51-237E-950D0DCDF3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483" r="1"/>
          <a:stretch>
            <a:fillRect/>
          </a:stretch>
        </p:blipFill>
        <p:spPr>
          <a:xfrm>
            <a:off x="6493933" y="1196328"/>
            <a:ext cx="5577099" cy="4904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body" idx="1"/>
          </p:nvPr>
        </p:nvSpPr>
        <p:spPr>
          <a:xfrm>
            <a:off x="0" y="862733"/>
            <a:ext cx="6658766" cy="555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600" b="1" dirty="0">
                <a:latin typeface="Arial Narrow" panose="020B0606020202030204" pitchFamily="34" charset="0"/>
                <a:cs typeface="Times New Roman" pitchFamily="18" charset="0"/>
              </a:rPr>
              <a:t>CONTOUR EXTRACTION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Arial Narrow" panose="020B0606020202030204" pitchFamily="34" charset="0"/>
              </a:rPr>
              <a:t>In this module, image features are prepared for deep learning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Arial Narrow" panose="020B0606020202030204" pitchFamily="34" charset="0"/>
              </a:rPr>
              <a:t>Images are loaded, resized, and converted into numerical arrays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Arial Narrow" panose="020B0606020202030204" pitchFamily="34" charset="0"/>
              </a:rPr>
              <a:t>Preprocessing techniques are applied for better feature extraction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Arial Narrow" panose="020B0606020202030204" pitchFamily="34" charset="0"/>
              </a:rPr>
              <a:t>Data is structured and labeled for training the CNN model</a:t>
            </a:r>
            <a:br>
              <a:rPr lang="en-US" sz="2600" dirty="0">
                <a:latin typeface="Arial Narrow" panose="020B0606020202030204" pitchFamily="34" charset="0"/>
              </a:rPr>
            </a:br>
            <a:endParaRPr lang="en-US" sz="2600" dirty="0">
              <a:latin typeface="Arial Narrow" panose="020B0606020202030204" pitchFamily="34" charset="0"/>
              <a:cs typeface="Times New Roman" pitchFamily="18" charset="0"/>
            </a:endParaRPr>
          </a:p>
        </p:txBody>
      </p: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 MODULE-3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09893F-4220-4C53-8A36-83ADF7C42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766" y="802654"/>
            <a:ext cx="5533234" cy="5335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body" idx="1"/>
          </p:nvPr>
        </p:nvSpPr>
        <p:spPr>
          <a:xfrm>
            <a:off x="0" y="1032933"/>
            <a:ext cx="5960534" cy="5039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600" b="1" dirty="0">
                <a:latin typeface="Arial Narrow" panose="020B0606020202030204" pitchFamily="34" charset="0"/>
                <a:cs typeface="Times New Roman" pitchFamily="18" charset="0"/>
              </a:rPr>
              <a:t>TISSUES CLASSIFICATION</a:t>
            </a:r>
          </a:p>
          <a:p>
            <a:pPr algn="just">
              <a:lnSpc>
                <a:spcPct val="100000"/>
              </a:lnSpc>
            </a:pPr>
            <a:r>
              <a:rPr lang="en-US" sz="2600" dirty="0">
                <a:latin typeface="Arial Narrow" panose="020B0606020202030204" pitchFamily="34" charset="0"/>
              </a:rPr>
              <a:t>The classification is the final step of the system</a:t>
            </a:r>
          </a:p>
          <a:p>
            <a:pPr algn="just">
              <a:lnSpc>
                <a:spcPct val="100000"/>
              </a:lnSpc>
            </a:pPr>
            <a:r>
              <a:rPr lang="en-US" sz="2600" dirty="0">
                <a:latin typeface="Arial Narrow" panose="020B0606020202030204" pitchFamily="34" charset="0"/>
              </a:rPr>
              <a:t>Lung diseases are classified using CNN (</a:t>
            </a:r>
            <a:r>
              <a:rPr lang="en-US" sz="2600" dirty="0" err="1">
                <a:latin typeface="Arial Narrow" panose="020B0606020202030204" pitchFamily="34" charset="0"/>
              </a:rPr>
              <a:t>Xception</a:t>
            </a:r>
            <a:r>
              <a:rPr lang="en-US" sz="2600" dirty="0">
                <a:latin typeface="Arial Narrow" panose="020B0606020202030204" pitchFamily="34" charset="0"/>
              </a:rPr>
              <a:t> model)</a:t>
            </a:r>
          </a:p>
          <a:p>
            <a:pPr algn="just">
              <a:lnSpc>
                <a:spcPct val="100000"/>
              </a:lnSpc>
            </a:pPr>
            <a:r>
              <a:rPr lang="en-US" sz="2600" dirty="0">
                <a:latin typeface="Arial Narrow" panose="020B0606020202030204" pitchFamily="34" charset="0"/>
              </a:rPr>
              <a:t>Deep features are automatically extracted from images</a:t>
            </a:r>
          </a:p>
          <a:p>
            <a:pPr algn="just">
              <a:lnSpc>
                <a:spcPct val="100000"/>
              </a:lnSpc>
            </a:pPr>
            <a:r>
              <a:rPr lang="en-US" sz="2600" dirty="0" err="1">
                <a:latin typeface="Arial Narrow" panose="020B0606020202030204" pitchFamily="34" charset="0"/>
              </a:rPr>
              <a:t>Softmax</a:t>
            </a:r>
            <a:r>
              <a:rPr lang="en-US" sz="2600" dirty="0">
                <a:latin typeface="Arial Narrow" panose="020B0606020202030204" pitchFamily="34" charset="0"/>
              </a:rPr>
              <a:t> layer classifies images into multiple classes</a:t>
            </a:r>
          </a:p>
          <a:p>
            <a:pPr lvl="1" algn="just">
              <a:lnSpc>
                <a:spcPct val="100000"/>
              </a:lnSpc>
            </a:pPr>
            <a:endParaRPr lang="en-US" sz="2600" dirty="0">
              <a:latin typeface="Arial Narrow" panose="020B0606020202030204" pitchFamily="34" charset="0"/>
              <a:cs typeface="Times New Roman" pitchFamily="18" charset="0"/>
            </a:endParaRPr>
          </a:p>
        </p:txBody>
      </p:sp>
      <p:sp>
        <p:nvSpPr>
          <p:cNvPr id="176" name="Google Shape;176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 MODULE-4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B9DF4B-96B0-D76B-BDBD-0DD7592AC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267" y="1032933"/>
            <a:ext cx="6163733" cy="51355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>
            <a:spLocks noGrp="1"/>
          </p:cNvSpPr>
          <p:nvPr>
            <p:ph type="body" idx="1"/>
          </p:nvPr>
        </p:nvSpPr>
        <p:spPr>
          <a:xfrm>
            <a:off x="0" y="1285319"/>
            <a:ext cx="6883400" cy="45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600" b="1" dirty="0">
                <a:latin typeface="Arial Narrow" panose="020B0606020202030204" pitchFamily="34" charset="0"/>
                <a:cs typeface="Times New Roman" pitchFamily="18" charset="0"/>
              </a:rPr>
              <a:t>DIAGNOSIS DETAILS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Arial Narrow" panose="020B0606020202030204" pitchFamily="34" charset="0"/>
              </a:rPr>
              <a:t>The trained CNN model predicts lung disease from input chest X-ray images.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Arial Narrow" panose="020B0606020202030204" pitchFamily="34" charset="0"/>
              </a:rPr>
              <a:t>The system classifies images into categories such as COVID-19, Pneumonia, Tuberculosis, and Normal.</a:t>
            </a:r>
          </a:p>
          <a:p>
            <a:pPr>
              <a:lnSpc>
                <a:spcPct val="100000"/>
              </a:lnSpc>
            </a:pPr>
            <a:r>
              <a:rPr lang="en-US" sz="2600" dirty="0">
                <a:latin typeface="Arial Narrow" panose="020B0606020202030204" pitchFamily="34" charset="0"/>
              </a:rPr>
              <a:t>Based on the prediction, the system displays the diagnosis result along with recommended precautions.</a:t>
            </a:r>
          </a:p>
          <a:p>
            <a:pPr marL="114300" indent="0">
              <a:lnSpc>
                <a:spcPct val="100000"/>
              </a:lnSpc>
              <a:buNone/>
            </a:pPr>
            <a:br>
              <a:rPr lang="en-US" sz="2600" dirty="0">
                <a:latin typeface="Arial Narrow" panose="020B0606020202030204" pitchFamily="34" charset="0"/>
              </a:rPr>
            </a:br>
            <a:endParaRPr lang="en-US" sz="2600" dirty="0">
              <a:latin typeface="Arial Narrow" panose="020B0606020202030204" pitchFamily="34" charset="0"/>
              <a:cs typeface="Times New Roman" pitchFamily="18" charset="0"/>
            </a:endParaRPr>
          </a:p>
        </p:txBody>
      </p:sp>
      <p:sp>
        <p:nvSpPr>
          <p:cNvPr id="183" name="Google Shape;183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MODULE-5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7B1A20-6066-524B-2D5F-79BD02CFF1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42" b="1579"/>
          <a:stretch>
            <a:fillRect/>
          </a:stretch>
        </p:blipFill>
        <p:spPr>
          <a:xfrm>
            <a:off x="6883400" y="762000"/>
            <a:ext cx="5308600" cy="5638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>
            <a:spLocks noGrp="1"/>
          </p:cNvSpPr>
          <p:nvPr>
            <p:ph type="title"/>
          </p:nvPr>
        </p:nvSpPr>
        <p:spPr>
          <a:xfrm>
            <a:off x="-160867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5" name="Google Shape;195;p16"/>
          <p:cNvSpPr txBox="1">
            <a:spLocks noGrp="1"/>
          </p:cNvSpPr>
          <p:nvPr>
            <p:ph type="body" idx="1"/>
          </p:nvPr>
        </p:nvSpPr>
        <p:spPr>
          <a:xfrm>
            <a:off x="645367" y="1601469"/>
            <a:ext cx="10352834" cy="4937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2600" dirty="0">
                <a:latin typeface="Arial Narrow" panose="020B0606020202030204" pitchFamily="34" charset="0"/>
              </a:rPr>
              <a:t> The system uses a </a:t>
            </a:r>
            <a:r>
              <a:rPr lang="en-US" sz="2600" b="1" dirty="0">
                <a:latin typeface="Arial Narrow" panose="020B0606020202030204" pitchFamily="34" charset="0"/>
              </a:rPr>
              <a:t>CNN-based </a:t>
            </a:r>
            <a:r>
              <a:rPr lang="en-US" sz="2600" b="1" dirty="0" err="1">
                <a:latin typeface="Arial Narrow" panose="020B0606020202030204" pitchFamily="34" charset="0"/>
              </a:rPr>
              <a:t>Xception</a:t>
            </a:r>
            <a:r>
              <a:rPr lang="en-US" sz="2600" b="1" dirty="0">
                <a:latin typeface="Arial Narrow" panose="020B0606020202030204" pitchFamily="34" charset="0"/>
              </a:rPr>
              <a:t> model</a:t>
            </a:r>
            <a:r>
              <a:rPr lang="en-US" sz="2600" dirty="0">
                <a:latin typeface="Arial Narrow" panose="020B0606020202030204" pitchFamily="34" charset="0"/>
              </a:rPr>
              <a:t> to classify chest X-ray images.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latin typeface="Arial Narrow" panose="020B0606020202030204" pitchFamily="34" charset="0"/>
              </a:rPr>
              <a:t>It accurately detects </a:t>
            </a:r>
            <a:r>
              <a:rPr lang="en-US" sz="2600" b="1" dirty="0">
                <a:latin typeface="Arial Narrow" panose="020B0606020202030204" pitchFamily="34" charset="0"/>
              </a:rPr>
              <a:t>COVID-19, Pneumonia, Tuberculosis, and Normal cases</a:t>
            </a:r>
            <a:r>
              <a:rPr lang="en-US" sz="2600" dirty="0">
                <a:latin typeface="Arial Narrow" panose="020B060602020203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600" dirty="0">
                <a:latin typeface="Arial Narrow" panose="020B0606020202030204" pitchFamily="34" charset="0"/>
              </a:rPr>
              <a:t>The model provides </a:t>
            </a:r>
            <a:r>
              <a:rPr lang="en-US" sz="2600" b="1" dirty="0">
                <a:latin typeface="Arial Narrow" panose="020B0606020202030204" pitchFamily="34" charset="0"/>
              </a:rPr>
              <a:t>fast prediction with precaution support</a:t>
            </a:r>
            <a:r>
              <a:rPr lang="en-US" sz="2600" dirty="0">
                <a:latin typeface="Arial Narrow" panose="020B0606020202030204" pitchFamily="34" charset="0"/>
              </a:rPr>
              <a:t>, improving diagnosis efficiency.</a:t>
            </a:r>
          </a:p>
          <a:p>
            <a:pPr algn="just">
              <a:lnSpc>
                <a:spcPct val="150000"/>
              </a:lnSpc>
            </a:pPr>
            <a:endParaRPr lang="en-US" sz="26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17;p29">
            <a:extLst>
              <a:ext uri="{FF2B5EF4-FFF2-40B4-BE49-F238E27FC236}">
                <a16:creationId xmlns:a16="http://schemas.microsoft.com/office/drawing/2014/main" id="{1625AC72-731C-E9D4-9433-ABAD3679D5C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  <a:buSzPts val="4400"/>
            </a:pPr>
            <a:r>
              <a:rPr lang="en-US" sz="4000" b="1" dirty="0">
                <a:latin typeface="Arial Narrow"/>
                <a:ea typeface="Arial Narrow"/>
                <a:cs typeface="Arial Narrow"/>
                <a:sym typeface="Arial Narrow"/>
              </a:rPr>
              <a:t>FUTURE ENHANCEMENTS </a:t>
            </a:r>
          </a:p>
        </p:txBody>
      </p:sp>
      <p:sp>
        <p:nvSpPr>
          <p:cNvPr id="4" name="Google Shape;218;p29">
            <a:extLst>
              <a:ext uri="{FF2B5EF4-FFF2-40B4-BE49-F238E27FC236}">
                <a16:creationId xmlns:a16="http://schemas.microsoft.com/office/drawing/2014/main" id="{9022D9D1-0590-F63A-2423-9927A001D88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US" sz="2600" dirty="0">
                <a:latin typeface="Arial Narrow" panose="020B0606020202030204" pitchFamily="34" charset="0"/>
              </a:rPr>
              <a:t> Extend the system to support </a:t>
            </a:r>
            <a:r>
              <a:rPr lang="en-US" sz="2600" b="1" dirty="0">
                <a:latin typeface="Arial Narrow" panose="020B0606020202030204" pitchFamily="34" charset="0"/>
              </a:rPr>
              <a:t>real-time clinical deployment</a:t>
            </a:r>
            <a:r>
              <a:rPr lang="en-US" sz="2600" dirty="0">
                <a:latin typeface="Arial Narrow" panose="020B0606020202030204" pitchFamily="34" charset="0"/>
              </a:rPr>
              <a:t> with web/mobile integration.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Arial Narrow" panose="020B0606020202030204" pitchFamily="34" charset="0"/>
              </a:rPr>
              <a:t>Implement encryption techniques to protect patient data and ensure model security.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dirty="0">
                <a:latin typeface="Arial Narrow" panose="020B0606020202030204" pitchFamily="34" charset="0"/>
              </a:rPr>
              <a:t>Use blockchain technology for secure, transparent, and privacy-preserving data sharing.</a:t>
            </a:r>
          </a:p>
          <a:p>
            <a:pPr algn="just">
              <a:lnSpc>
                <a:spcPct val="150000"/>
              </a:lnSpc>
            </a:pPr>
            <a:br>
              <a:rPr lang="en-US" sz="2600" dirty="0">
                <a:latin typeface="Arial Narrow" panose="020B0606020202030204" pitchFamily="34" charset="0"/>
              </a:rPr>
            </a:br>
            <a:endParaRPr lang="en-US" sz="2600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173844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1023</Words>
  <Application>Microsoft Office PowerPoint</Application>
  <PresentationFormat>Widescreen</PresentationFormat>
  <Paragraphs>131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 Narrow</vt:lpstr>
      <vt:lpstr>Arial</vt:lpstr>
      <vt:lpstr>Times New Roman</vt:lpstr>
      <vt:lpstr>Calibri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SOFTWARE AND HARDWARE REQUIREMENTS </vt:lpstr>
      <vt:lpstr>MODULES </vt:lpstr>
      <vt:lpstr> MODULE-1</vt:lpstr>
      <vt:lpstr> MODULE-2</vt:lpstr>
      <vt:lpstr> MODULE-3</vt:lpstr>
      <vt:lpstr> MODULE-4</vt:lpstr>
      <vt:lpstr>MODULE-5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Saravanan M</dc:creator>
  <cp:lastModifiedBy>Ignatiuss J</cp:lastModifiedBy>
  <cp:revision>60</cp:revision>
  <dcterms:modified xsi:type="dcterms:W3CDTF">2026-03-29T05:50:56Z</dcterms:modified>
</cp:coreProperties>
</file>